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security_dashboard_futuristic_1778200297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6858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4000">
                <a:solidFill>
                  <a:srgbClr val="FFFFFF"/>
                </a:solidFill>
              </a:defRPr>
            </a:pPr>
            <a:r>
              <a:t>Next-Gen AI Security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06B6D4"/>
                </a:solidFill>
              </a:defRPr>
            </a:pPr>
            <a:r>
              <a:t>Beyond Gateway: 에이전틱 시대를 위한 초격차 보안 거버넌스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PART 1. 개요 및 전략적 배경</a:t>
            </a:r>
          </a:p>
        </p:txBody>
      </p:sp>
      <p:pic>
        <p:nvPicPr>
          <p:cNvPr id="4" name="Picture 3" descr="ai_security_dashboard_futuristic_1778200297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B3CE9"/>
                </a:solidFill>
              </a:defRPr>
            </a:pPr>
            <a:r>
              <a:t>전략적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단순한 'AI 입구 보안(Gateway)'을 넘어선 'Full-Stack AI Governance'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AI 모델의 생성-운영-폐기(Lifecycle) 전 과정에서의 데이터 안전성 및 추론 무결성 보장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2026년 에이전틱 AI(Agentic AI) 시대의 핵심 보안 인프라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B3CE9"/>
                </a:solidFill>
              </a:defRPr>
            </a:pPr>
            <a:r>
              <a:t>전략 목표 (Strategic Objectives)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Visibility: 에이전트 사고 과정(CoT) 및 데이터 흐름의 완벽 가시성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Control: 자율형 AI 일탈 행위에 대한 실시간 'Kill-Switch'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Trust: 증명 가능한 보안 이력을 통한 AI 서비스 수용성 제고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Efficiency: 규제 대응 자동화를 통한 보안 조직 운영 효율 극대화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글로벌 표준 부합성: Gartner AI TRiSM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B3CE9"/>
                </a:solidFill>
              </a:defRPr>
            </a:pPr>
            <a:r>
              <a:t>AI TRiSM (Trust, Risk, and Security Management)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Gartner가 제시한 AI 거버넌스의 표준 프레임워크를 100%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1. Trust (신뢰성): 설명 가능하고 투명한 AI (CoT 감시, Compliance XAI)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2. Risk (리스크): 데이터 유출 및 모델 환각 선제적 방어 (Semantic DLP, DSPM)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3. Security (보안): 런타임 공격 및 데이터 오염 실시간 차단 (Agent-SPM, Anti-Poisoning)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B3CE9"/>
                </a:solidFill>
              </a:defRPr>
            </a:pPr>
            <a:r>
              <a:t>Strategic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단순 정책 수립을 넘어선 '실시간 기술적 강제(Runtime Enforcement)' 기반의 초격차 거버넌스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시장의 페인포인트 및 위협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입구 보안(North-South)의 한계: 내부 에이전트 간 통신(East-West) 보안 부재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의미론적 우회(Semantic Evasion): 문맥을 이용한 지능형 프롬프트 인젝션 급증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AI 블랙박스 리스크: 의사결정 근거 불투명으로 인한 책임 소재 불분명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섀도우 AI &amp; 자산 방치: 관리되지 않는 모델 및 퇴역 모델 내 데이터 유출(Memory Leakage)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규제 피로도: 금감원/KISA/EU AI Act 등 복잡해지는 글로벌 규제 대응 한계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경쟁 우위 분석 (2026 Competitive Edge)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기존 Gateway 시장은 이미 레드오션화 되었으며, '행위(Behavior)' 중심의 Agent-SPM이 차세대 블루오션으로 부상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.7499999999999998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7B3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AI Gateway (Red Ocean)</a:t>
                      </a:r>
                    </a:p>
                  </a:txBody>
                  <a:tcPr>
                    <a:solidFill>
                      <a:srgbClr val="7B3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AI-DSPM (Growing)</a:t>
                      </a:r>
                    </a:p>
                  </a:txBody>
                  <a:tcPr>
                    <a:solidFill>
                      <a:srgbClr val="7B3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Agent-SPM (Blue Ocean)</a:t>
                      </a:r>
                    </a:p>
                  </a:txBody>
                  <a:tcPr>
                    <a:solidFill>
                      <a:srgbClr val="7B3C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관점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통로(Perimeter) 중심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데이터(Storage) 중심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행위(Behavior) 중심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핵심 가치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입구 차단, 속도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정보 유출 방지, 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AI의 자율성 통제 및 책임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진입 장벽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낮음 (오픈소스 다수)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중간 (기술 가시성)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높음 (LLM 추론 분석)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금융권 반응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기본 인프라로 인식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컴플라이언스 대응용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AX 전면 도입을 위한 필수재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PART 2. Safe AI 3중 방어 체계 아키텍처</a:t>
            </a:r>
          </a:p>
        </p:txBody>
      </p:sp>
      <p:pic>
        <p:nvPicPr>
          <p:cNvPr id="4" name="Picture 3" descr="ai_agent_reasoning_guardrail_1778200328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B3CE9"/>
                </a:solidFill>
              </a:defRPr>
            </a:pPr>
            <a:r>
              <a:t>4단계 통합 보안 레이어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LAYER 1: 인바운드 게이트웨이 (DLP, 쿼터, 서킷브레이커)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LAYER 2: 에이전트 추론 감시 (CoT 인터셉트, Shadow Reasoning)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LAYER 3: 데이터 및 RAG 보안 (PII 마스킹, 안티 포이즈닝)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LAYER 4: 거버넌스 및 자산 생애주기 (자동 보고, 완전 파기)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B3CE9"/>
                </a:solidFill>
              </a:defRPr>
            </a:pPr>
            <a:r>
              <a:t>기술적 차별성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East-West 통신 보안: 에이전트 간(A2A) 및 외부 도구 호출 실시간 모니터링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증명 가능한 지능: 추론 근거 전수 기록 및 규제 리포팅 자동화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핵심 기술: CoT 실시간 감시 및 Shadow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B3CE9"/>
                </a:solidFill>
              </a:defRPr>
            </a:pPr>
            <a:r>
              <a:t>왜 입구(Prompt) 보안만으로는 부족한가?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간접 인젝션(Indirect Injection): 정상 요청 속에 숨겨진 악의적 지시는 추론 과정에서만 포착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논리적 비약 방지: AI가 스스로 보안 절차를 생략하거나 규정을 우회하는 결정 차단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B3CE9"/>
                </a:solidFill>
              </a:defRPr>
            </a:pPr>
            <a:r>
              <a:t>3단계 가드레일 메커니즘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1. 강제적 사고 노출 (Enforced Disclosure): &lt;thought&gt; 태그 내 추론 텍스트화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2. 실시간 토큰 인터셉트: 생성 즉시 게이트웨이 레벨 가로채기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3. 그림자 추론 검증 (Shadow Reasoning): 별도 경량 sLLM을 통한 실시간 스캔 및 Kill-Switch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한국형 특화 보안 및 성능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B3CE9"/>
                </a:solidFill>
              </a:defRPr>
            </a:pPr>
            <a:r>
              <a:t>K-Compliance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망분리 5호 예외 지원: U+ 인프라 내 PaaS 래핑 구조를 통한 샌드박스 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행정 자동화: 금감원 가이드라인 맞춤형 '보안 사고 방어 일지' 원클릭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B3CE9"/>
                </a:solidFill>
              </a:defRPr>
            </a:pPr>
            <a:r>
              <a:t>Performance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스트리밍 비동기 분석: TTFT를 최소화하는 실시간 병렬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초경량 보안 가디언: 2B 이하 sLLM 배치로 연산 부하 5% 미만 유지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AI 자산 생애주기 및 파기 (AI-Sanitizer)</a:t>
            </a:r>
          </a:p>
        </p:txBody>
      </p:sp>
      <p:pic>
        <p:nvPicPr>
          <p:cNvPr id="4" name="Picture 3" descr="ai_lifecycle_governance_concept_17782003114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B3CE9"/>
                </a:solidFill>
              </a:defRPr>
            </a:pPr>
            <a:r>
              <a:t>모델 퇴역 및 자산 소멸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문제: 모델 내 학습 데이터의 '메모리 현상(Memory Leakage)' 및 역공학 위협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B3CE9"/>
                </a:solidFill>
              </a:defRPr>
            </a:pPr>
            <a:r>
              <a:t>핵심 솔루션: AI-Sanitizer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멀티레이어 와이핑(Wiping): GPU 메모리, 벡터 DB, 가중치 파일 완전 삭제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보안 파기 증명서: KISA 가이드라인 준수 증빙 리포트 자동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Lifecycle Dashboard: 전사 AI 자산 인벤토리 및 보안 드리프트 상시 감시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상품화 로드맵 (5대 라인업)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1. AI-Sanitizer: 자산 완전 파기 및 증명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2. AI Lifecycle Governance: 전사 자산 관리 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3. Model Memory Leakage Scanner: 유출 리스크 자동 감사기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4. AI Compliance-as-a-Service: 글로벌 규제 대응 자동화 패키지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5. AI Cyber Insurance Linkage: 보안 점수 기반 보험료 할인 연계 상품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PART 4. CISO 설득 논리 및 성공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B3CE9"/>
                </a:solidFill>
              </a:defRPr>
            </a:pPr>
            <a:r>
              <a:t>Key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Accountability: 사고 책임 소재 명확화 및 법적 면책 근거 제공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Enabler: 혁신의 방해자가 아닌 '안전한 AX의 조력자'로의 포지셔닝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Asset Protection: 직접적 재무 손실(환각/오작동) 차단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7B3CE9"/>
                </a:solidFill>
              </a:defRPr>
            </a:pPr>
            <a:r>
              <a:t>신한은행 '평화로운 하루' 시나리오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오전: AI-SPM이 API Key 노출 탐지 및 즉시 격리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오후: Agent-SPM이 에이전트의 투자 성향 조작 의도 포착 및 차단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마감: 금감원 제출용 50페이지 실사 리포트 자동 생성 및 정시 퇴근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7B3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서비스 진화 로드맵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F1F"/>
                </a:solidFill>
              </a:defRPr>
            </a:pPr>
            <a:r>
              <a:t>• 단기적으로 규제 대응(망분리) '미끼 상품'으로 진입하여, 중기적 초격차 기술(SPM)로 해자를 구축하고, 장기적 금융 생태계(보험/파기)로 수익 극대화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.7499999999999998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7B3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핵심 타겟</a:t>
                      </a:r>
                    </a:p>
                  </a:txBody>
                  <a:tcPr>
                    <a:solidFill>
                      <a:srgbClr val="7B3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수요(Urgency)</a:t>
                      </a:r>
                    </a:p>
                  </a:txBody>
                  <a:tcPr>
                    <a:solidFill>
                      <a:srgbClr val="7B3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수익성(Profit)</a:t>
                      </a:r>
                    </a:p>
                  </a:txBody>
                  <a:tcPr>
                    <a:solidFill>
                      <a:srgbClr val="7B3C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Phase 1 (단기)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망분리 대응 금융권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최상 (필수)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중간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Phase 2 (중기)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AX 전면 도입 대기업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높음 (A2A 리스크)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상 (기술 프리미엄)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Phase 3 (장기)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생태계 및 리스크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보통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최상 (보험 연계)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