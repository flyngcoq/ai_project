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0A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F5F5"/>
                </a:solidFill>
              </a:defRPr>
            </a:pPr>
            <a:r>
              <a:t>SILICON VALLEY DESIGN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828C"/>
                </a:solidFill>
              </a:defRPr>
            </a:pPr>
            <a:r>
              <a:t>Customer Obsession &amp; Cultural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28C"/>
                </a:solidFill>
              </a:defRPr>
            </a:pPr>
            <a:r>
              <a:t>SAFE AI PROJECT // DESIGN THINKING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1277295" cy="3200400"/>
          </a:xfrm>
          <a:prstGeom prst="roundRect">
            <a:avLst/>
          </a:prstGeom>
          <a:solidFill>
            <a:srgbClr val="1E232D"/>
          </a:solidFill>
          <a:ln w="19050">
            <a:solidFill>
              <a:srgbClr val="0A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2000">
                <a:solidFill>
                  <a:srgbClr val="0AC896"/>
                </a:solidFill>
              </a:defRPr>
            </a:pPr>
            <a:r>
              <a:t>LEAD LEARNER &amp; KIMCHI-KETCHUP FUSION</a:t>
            </a:r>
          </a:p>
          <a:p>
            <a:pPr>
              <a:spcBef>
                <a:spcPts val="1500"/>
              </a:spcBef>
              <a:defRPr sz="1400">
                <a:solidFill>
                  <a:srgbClr val="F5F5F5"/>
                </a:solidFill>
              </a:defRPr>
            </a:pPr>
            <a:r>
              <a:t>정답을 가르치는 교사(Teacher)가 아닌 함께 정답을 찾아가는 학습자(Learner)의 마인드셋.</a:t>
            </a:r>
            <a:br/>
            <a:r>
              <a:t>우리의 치밀한 엔지니어링 역량과 미국의 자유로운 창의성을 섞는 '김치-케첩' 같은 문화적 융합.</a:t>
            </a:r>
            <a:br/>
            <a:br/>
            <a:r>
              <a:t>우리의 알량한 가설이 어떻게 깨졌는지, 그리고 그 틈에서 발견한 Safe AI의 진짜 가능성을 공유합니다.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0A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F5F5"/>
                </a:solidFill>
              </a:defRPr>
            </a:pPr>
            <a:r>
              <a:t>MZ INTERVIEW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828C"/>
                </a:solidFill>
              </a:defRPr>
            </a:pPr>
            <a:r>
              <a:t>The Illusion of the Unified Persona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28C"/>
                </a:solidFill>
              </a:defRPr>
            </a:pPr>
            <a:r>
              <a:t>SAFE AI PROJECT // DESIGN THINKING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1277295" cy="3657600"/>
          </a:xfrm>
          <a:prstGeom prst="roundRect">
            <a:avLst/>
          </a:prstGeom>
          <a:solidFill>
            <a:srgbClr val="1E232D"/>
          </a:solidFill>
          <a:ln w="19050">
            <a:solidFill>
              <a:srgbClr val="0A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2000">
                <a:solidFill>
                  <a:srgbClr val="0AC896"/>
                </a:solidFill>
              </a:defRPr>
            </a:pPr>
            <a:r>
              <a:t>AUTHENTICITY OVER PERFECTION</a:t>
            </a:r>
          </a:p>
          <a:p>
            <a:pPr>
              <a:spcBef>
                <a:spcPts val="1500"/>
              </a:spcBef>
              <a:defRPr sz="1400">
                <a:solidFill>
                  <a:srgbClr val="F5F5F5"/>
                </a:solidFill>
              </a:defRPr>
            </a:pPr>
            <a:r>
              <a:t>가설: MZ세대는 매끄러운(Clean) 디지털 경험과 항상 연결되기를 원할 것이다?</a:t>
            </a:r>
            <a:br/>
            <a:br/>
            <a:r>
              <a:t>실제: 대기업이 만든 가짜 완벽함보다 날것 그대로의 '진정성(Authenticity)'을 갈망함.</a:t>
            </a:r>
            <a:br/>
            <a:r>
              <a:t>화려한 인스타그램보다 꾸밈없는 'BeReal'에 열광하며, 소소한 일상을 나누는 'Micro-share'에 반응함.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0A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F5F5"/>
                </a:solidFill>
              </a:defRPr>
            </a:pPr>
            <a:r>
              <a:t>THE SECURITY POLARIZATION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828C"/>
                </a:solidFill>
              </a:defRPr>
            </a:pPr>
            <a:r>
              <a:t>Extreme Users: The Protector vs. The 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28C"/>
                </a:solidFill>
              </a:defRPr>
            </a:pPr>
            <a:r>
              <a:t>SAFE AI PROJECT // DESIGN THINKING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486400" cy="3657600"/>
          </a:xfrm>
          <a:prstGeom prst="roundRect">
            <a:avLst/>
          </a:prstGeom>
          <a:solidFill>
            <a:srgbClr val="1E232D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2000">
                <a:solidFill>
                  <a:srgbClr val="FF5A5A"/>
                </a:solidFill>
              </a:defRPr>
            </a:pPr>
            <a:r>
              <a:t>🛡️ THE PROTECTOR</a:t>
            </a:r>
          </a:p>
          <a:p>
            <a:pPr>
              <a:spcBef>
                <a:spcPts val="1500"/>
              </a:spcBef>
              <a:defRPr sz="1400">
                <a:solidFill>
                  <a:srgbClr val="F5F5F5"/>
                </a:solidFill>
              </a:defRPr>
            </a:pPr>
            <a:r>
              <a:t>'어느 한 기업이 내 인생의 모든 것을 아는 건 소름 끼쳐요.'</a:t>
            </a:r>
            <a:br/>
            <a:br/>
            <a:r>
              <a:t>- 위치 추적 거부</a:t>
            </a:r>
            <a:br/>
            <a:r>
              <a:t>- 완벽한 프라이버시가 최우선</a:t>
            </a:r>
            <a:br/>
            <a:r>
              <a:t>- 통제권 상실에 대한 강한 두려움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286000"/>
            <a:ext cx="5486400" cy="3657600"/>
          </a:xfrm>
          <a:prstGeom prst="roundRect">
            <a:avLst/>
          </a:prstGeom>
          <a:solidFill>
            <a:srgbClr val="1E232D"/>
          </a:solidFill>
          <a:ln w="19050">
            <a:solidFill>
              <a:srgbClr val="0A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2000">
                <a:solidFill>
                  <a:srgbClr val="0AC896"/>
                </a:solidFill>
              </a:defRPr>
            </a:pPr>
            <a:r>
              <a:t>⚡ THE OPTIMIZER</a:t>
            </a:r>
          </a:p>
          <a:p>
            <a:pPr>
              <a:spcBef>
                <a:spcPts val="1500"/>
              </a:spcBef>
              <a:defRPr sz="1400">
                <a:solidFill>
                  <a:srgbClr val="F5F5F5"/>
                </a:solidFill>
              </a:defRPr>
            </a:pPr>
            <a:r>
              <a:t>'보안은 회사 책임이죠. 내 야근을 줄여준다면 비밀번호라도 공유할 용의가 있습니다.'</a:t>
            </a:r>
            <a:br/>
            <a:br/>
            <a:r>
              <a:t>- 극단적 효율성 추구</a:t>
            </a:r>
            <a:br/>
            <a:r>
              <a:t>- 편의성을 위한 기꺼운 데이터 제공</a:t>
            </a:r>
            <a:br/>
            <a:r>
              <a:t>- AI의 능동적 개입 환영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0A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F5F5"/>
                </a:solidFill>
              </a:defRPr>
            </a:pPr>
            <a:r>
              <a:t>THE FUTURE OF SAFE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828C"/>
                </a:solidFill>
              </a:defRPr>
            </a:pPr>
            <a:r>
              <a:t>Personalized Security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28C"/>
                </a:solidFill>
              </a:defRPr>
            </a:pPr>
            <a:r>
              <a:t>SAFE AI PROJECT // DESIGN THINKING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1277295" cy="3657600"/>
          </a:xfrm>
          <a:prstGeom prst="roundRect">
            <a:avLst/>
          </a:prstGeom>
          <a:solidFill>
            <a:srgbClr val="1E232D"/>
          </a:solidFill>
          <a:ln w="19050">
            <a:solidFill>
              <a:srgbClr val="0A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2000">
                <a:solidFill>
                  <a:srgbClr val="0AC896"/>
                </a:solidFill>
              </a:defRPr>
            </a:pPr>
            <a:r>
              <a:t>UNLOCKING HIDDEN DEMAND</a:t>
            </a:r>
          </a:p>
          <a:p>
            <a:pPr>
              <a:spcBef>
                <a:spcPts val="1500"/>
              </a:spcBef>
              <a:defRPr sz="1400">
                <a:solidFill>
                  <a:srgbClr val="F5F5F5"/>
                </a:solidFill>
              </a:defRPr>
            </a:pPr>
            <a:r>
              <a:t>사용자마다 보안 감수성이 극명하게 다르다면, 우리는 '개인화된 보안 통제권'을 쥐어주어야 합니다.</a:t>
            </a:r>
            <a:br/>
            <a:br/>
            <a:r>
              <a:t>1. 폭발하는 숨은 수요: '극보안주의자'부터 '효율주의자'까지 모두를 하나의 플랫폼으로 포섭</a:t>
            </a:r>
            <a:br/>
            <a:r>
              <a:t>2. 투 트랙 만족: 통제를 원하는 관리자와 편의를 원하는 실무자를 동시에 만족시킴</a:t>
            </a:r>
            <a:br/>
            <a:r>
              <a:t>3. 신뢰 자본 구축: 보안 강도를 직접 조작하게 함으로써 가장 신뢰할 수 있는 파트너로 포지셔닝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0A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F5F5"/>
                </a:solidFill>
              </a:defRPr>
            </a:pPr>
            <a:r>
              <a:t>CALL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828C"/>
                </a:solidFill>
              </a:defRPr>
            </a:pPr>
            <a:r>
              <a:t>Executive Sponsorship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28C"/>
                </a:solidFill>
              </a:defRPr>
            </a:pPr>
            <a:r>
              <a:t>SAFE AI PROJECT // DESIGN THINKING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1277295" cy="3657600"/>
          </a:xfrm>
          <a:prstGeom prst="roundRect">
            <a:avLst/>
          </a:prstGeom>
          <a:solidFill>
            <a:srgbClr val="1E232D"/>
          </a:solidFill>
          <a:ln w="19050">
            <a:solidFill>
              <a:srgbClr val="0A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2000">
                <a:solidFill>
                  <a:srgbClr val="0AC896"/>
                </a:solidFill>
              </a:defRPr>
            </a:pPr>
            <a:r>
              <a:t>WHAT WE NEED TO WIN</a:t>
            </a:r>
          </a:p>
          <a:p>
            <a:pPr>
              <a:spcBef>
                <a:spcPts val="1500"/>
              </a:spcBef>
              <a:defRPr sz="1400">
                <a:solidFill>
                  <a:srgbClr val="F5F5F5"/>
                </a:solidFill>
              </a:defRPr>
            </a:pPr>
            <a:r>
              <a:t>바텀업(Bottom-up) 이니셔티브가 타사를 압도하는 프로덕트로 세상에 나오기 위한 조건:</a:t>
            </a:r>
            <a:br/>
            <a:br/>
            <a:r>
              <a:t>1. 심리적 안전감 &amp; 시간적 여유: 실패를 두려워하지 않고 가설을 지속 검증할 환경</a:t>
            </a:r>
            <a:br/>
            <a:r>
              <a:t>2. 유연한 리소스 파이프라인: 개발/디자인 부서와의 애자일(Agile)한 협업</a:t>
            </a:r>
            <a:br/>
            <a:r>
              <a:t>3. Top-down Endorsement: 경영진의 강력하고 확실한 내부 지지 메시지</a:t>
            </a:r>
            <a:br/>
            <a:br/>
            <a:r>
              <a:t>실무진은 답을 찾겠습니다. 리더분들께서는 길을 열어주십시오.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