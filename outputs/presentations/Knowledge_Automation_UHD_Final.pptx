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지능형 지식 자산화 및 운영 자동화를 통한</a:t>
            </a:r>
            <a:br/>
            <a:r>
              <a:t>기업 경쟁력 극대화 전략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AI-Driven Knowledge Framework: Strategic Asset Optimization &amp; Roadmaps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2024. 05. 22 | Strategy &amp; Technology Transformation Task Force</a:t>
            </a:r>
          </a:p>
          <a:p>
            <a:pPr>
              <a:defRPr sz="1000">
                <a:solidFill>
                  <a:srgbClr val="B4B4B4"/>
                </a:solidFill>
              </a:defRPr>
            </a:pPr>
            <a:r>
              <a:t>Confidential -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글로벌 AI 패러다임 시프트에 따른 내부 대응력 격차 진단 및</a:t>
            </a:r>
            <a:br/>
            <a:r>
              <a:t>데이터 기반 의사결정 체계로의 전략적 전환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Global Trends, Internal Risks, and Economic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" y="2286000"/>
            <a:ext cx="1371600" cy="548640"/>
          </a:xfrm>
          <a:prstGeom prst="rect">
            <a:avLst/>
          </a:prstGeom>
          <a:solidFill>
            <a:srgbClr val="F2F3F5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defRPr b="1" sz="1200">
                <a:solidFill>
                  <a:srgbClr val="0F172A"/>
                </a:solidFill>
              </a:defRPr>
            </a:pPr>
            <a:r>
              <a:t>글로벌 기술 트렌드 및 시장 동향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2286000"/>
            <a:ext cx="39319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spcAft>
                <a:spcPts val="200"/>
              </a:spcAft>
              <a:defRPr sz="1200">
                <a:solidFill>
                  <a:srgbClr val="1E293B"/>
                </a:solidFill>
                <a:latin typeface="Pretendard"/>
              </a:defRPr>
            </a:pPr>
            <a:r>
              <a:t>[Data] 글로벌 Top-tier 기업의 생성형 AI 도입률 및 R&amp;D 투자 비중 전년 대비 150% 급증(Gartner 기준). 산업군 내 AI 기반 자동화 프로세스 도입을 통한 운영 효율성(OpEx) 평균 30% 개선 사례 확보.</a:t>
            </a:r>
          </a:p>
          <a:p>
            <a:pPr algn="l">
              <a:spcAft>
                <a:spcPts val="200"/>
              </a:spcAft>
              <a:defRPr sz="1200">
                <a:solidFill>
                  <a:srgbClr val="475569"/>
                </a:solidFill>
                <a:latin typeface="Pretendard"/>
              </a:defRPr>
            </a:pPr>
            <a:r>
              <a:t>[Analysis] 경쟁사 중심의 AI 기술 내재화 가속화에 따른 'AI-Gap' 심화 위험. 기술 격차를 넘어 운영 프로세스 전반의 생산성 격차로 전이될 수 있는 변곡점 도래.</a:t>
            </a:r>
          </a:p>
          <a:p>
            <a:pPr algn="l">
              <a:spcAft>
                <a:spcPts val="200"/>
              </a:spcAft>
              <a:defRPr sz="1200">
                <a:solidFill>
                  <a:srgbClr val="38BDF8"/>
                </a:solidFill>
                <a:latin typeface="Pretendard"/>
              </a:defRPr>
            </a:pPr>
            <a:r>
              <a:t>[Strategic Implication] Preemptive Response: 전사적 데이터 자산을 통합 관리할 수 있는 'Scalable AI Platform' 구축 시급.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2286000"/>
            <a:ext cx="1371600" cy="548640"/>
          </a:xfrm>
          <a:prstGeom prst="rect">
            <a:avLst/>
          </a:prstGeom>
          <a:solidFill>
            <a:srgbClr val="F2F3F5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defRPr b="1" sz="1200">
                <a:solidFill>
                  <a:srgbClr val="0F172A"/>
                </a:solidFill>
              </a:defRPr>
            </a:pPr>
            <a:r>
              <a:t>내부 운영 효율성 및 데이터 진단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3207" y="2286000"/>
            <a:ext cx="39319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spcAft>
                <a:spcPts val="200"/>
              </a:spcAft>
              <a:defRPr sz="1200">
                <a:solidFill>
                  <a:srgbClr val="1E293B"/>
                </a:solidFill>
                <a:latin typeface="Pretendard"/>
              </a:defRPr>
            </a:pPr>
            <a:r>
              <a:t>[Data] 정형 데이터의 85%가 사일로(Silo)화되어 있으며 비정형 데이터 활용률은 5% 미만 저조. 현재 내부 의사결정 프로세스 내 데이터 기반 추론 비중은 12% 수준으로 직관 의존도 높음.</a:t>
            </a:r>
          </a:p>
          <a:p>
            <a:pPr algn="l">
              <a:spcAft>
                <a:spcPts val="200"/>
              </a:spcAft>
              <a:defRPr sz="1200">
                <a:solidFill>
                  <a:srgbClr val="475569"/>
                </a:solidFill>
                <a:latin typeface="Pretendard"/>
              </a:defRPr>
            </a:pPr>
            <a:r>
              <a:t>[Analysis] Data Silo 현상으로 인한 통합적 통찰(SSOT) 도출 저해 및 의사결정 지연 비용 발생. 비정형 데이터 미활용은 지식 자산 손실 및 급변하는 환경에서의 Agility 저하 초래.</a:t>
            </a:r>
          </a:p>
          <a:p>
            <a:pPr algn="l">
              <a:spcAft>
                <a:spcPts val="200"/>
              </a:spcAft>
              <a:defRPr sz="1200">
                <a:solidFill>
                  <a:srgbClr val="38BDF8"/>
                </a:solidFill>
                <a:latin typeface="Pretendard"/>
              </a:defRPr>
            </a:pPr>
            <a:r>
              <a:t>[Strategic Implication] Strategic Pivot: 데이터 사일로를 제거하고 정형/비정형 통합 학습 가능한 구조로 전면 재편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567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i="1">
                <a:solidFill>
                  <a:srgbClr val="10B981"/>
                </a:solidFill>
              </a:defRPr>
            </a:pPr>
            <a:r>
              <a:t>◈ PESTEL Analysis: 글로벌 AI 규제 및 거버넌스 대응 체계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047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i="1">
                <a:solidFill>
                  <a:srgbClr val="10B981"/>
                </a:solidFill>
              </a:defRPr>
            </a:pPr>
            <a:r>
              <a:t>◈ Competitor Benchmarking: 업종 내 선도 그룹과의 생산성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데이터 가치 사슬 최적화를 위한 3-Layer 통합 플랫폼 설계 및</a:t>
            </a:r>
            <a:br/>
            <a:r>
              <a:t>미래 대응형 Future-proof 인프라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Target Architecture: Ingestion, Reasoning, and Service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371600" cy="548640"/>
          </a:xfrm>
          <a:prstGeom prst="rect">
            <a:avLst/>
          </a:prstGeom>
          <a:solidFill>
            <a:srgbClr val="F2F3F5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defRPr b="1" sz="1200">
                <a:solidFill>
                  <a:srgbClr val="0F172A"/>
                </a:solidFill>
              </a:defRPr>
            </a:pPr>
            <a:r>
              <a:t>Data Ingestion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286000"/>
            <a:ext cx="9692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spcAft>
                <a:spcPts val="200"/>
              </a:spcAft>
              <a:defRPr sz="1200">
                <a:solidFill>
                  <a:srgbClr val="1E293B"/>
                </a:solidFill>
                <a:latin typeface="Pretendard"/>
              </a:defRPr>
            </a:pPr>
            <a:r>
              <a:t>[Data] Multi-source(ERP, CRM, IoT) 기반 통합 Data Lake 및 ETL 파이프라인. 일일 유입량 500GB 이상의 비정형 데이터 실시간 파싱 및 지능형 벡터화.</a:t>
            </a:r>
          </a:p>
          <a:p>
            <a:pPr algn="l">
              <a:spcAft>
                <a:spcPts val="200"/>
              </a:spcAft>
              <a:defRPr sz="1200">
                <a:solidFill>
                  <a:srgbClr val="475569"/>
                </a:solidFill>
                <a:latin typeface="Pretendard"/>
              </a:defRPr>
            </a:pPr>
            <a:r>
              <a:t>[Analysis] Data Fidelity: 수집부터 임베딩까지의 전 과정 자동화로 데이터 무결성 확보. Scalable 아키텍처로 향후 데이터 폭증 시에도 안정적인 시스템 성능 유지.</a:t>
            </a:r>
          </a:p>
          <a:p>
            <a:pPr algn="l">
              <a:spcAft>
                <a:spcPts val="200"/>
              </a:spcAft>
              <a:defRPr sz="1200">
                <a:solidFill>
                  <a:srgbClr val="38BDF8"/>
                </a:solidFill>
                <a:latin typeface="Pretendard"/>
              </a:defRPr>
            </a:pPr>
            <a:r>
              <a:t>[Strategic Implication] Robust Foundation: 어떠한 AI 모델 도입 시에도 즉각 대응 가능한 유연성 확보.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solidFill>
            <a:srgbClr val="F2F3F5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defRPr b="1" sz="1200">
                <a:solidFill>
                  <a:srgbClr val="0F172A"/>
                </a:solidFill>
              </a:defRPr>
            </a:pPr>
            <a:r>
              <a:t>Cognitive Reasoning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114800"/>
            <a:ext cx="9692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spcAft>
                <a:spcPts val="200"/>
              </a:spcAft>
              <a:defRPr sz="1200">
                <a:solidFill>
                  <a:srgbClr val="1E293B"/>
                </a:solidFill>
                <a:latin typeface="Pretendard"/>
              </a:defRPr>
            </a:pPr>
            <a:r>
              <a:t>[Data] LLM/sLLM Orchestration, RAG 엔진, Vector DB 기반의 정밀 추론 환경. Multi-Agent 상호 검증 및 Self-Correction 메커니즘을 통한 신뢰도 극대화.</a:t>
            </a:r>
          </a:p>
          <a:p>
            <a:pPr algn="l">
              <a:spcAft>
                <a:spcPts val="200"/>
              </a:spcAft>
              <a:defRPr sz="1200">
                <a:solidFill>
                  <a:srgbClr val="475569"/>
                </a:solidFill>
                <a:latin typeface="Pretendard"/>
              </a:defRPr>
            </a:pPr>
            <a:r>
              <a:t>[Analysis] Inference Optimization: RAG 기술을 통한 환각 현상 최소화 및 도메인 지식 반영. 기업 내부 보안 가이드라인을 준수하는 On-premise 하이브리드 추론 모델.</a:t>
            </a:r>
          </a:p>
          <a:p>
            <a:pPr algn="l">
              <a:spcAft>
                <a:spcPts val="200"/>
              </a:spcAft>
              <a:defRPr sz="1200">
                <a:solidFill>
                  <a:srgbClr val="38BDF8"/>
                </a:solidFill>
                <a:latin typeface="Pretendard"/>
              </a:defRPr>
            </a:pPr>
            <a:r>
              <a:t>[Strategic Implication] Intelligence Core: 단순 검색을 넘어 논리적 추론이 가능한 기업용 브레인 역할.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단계적 AI 생태계 확산을 통한 재무적 가치 창출 및</a:t>
            </a:r>
            <a:br/>
            <a:r>
              <a:t>지속 가능한 지능형 기업(AI-Native)으로의 체질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Pretendard"/>
              </a:defRPr>
            </a:pPr>
            <a:r>
              <a:t>Financial Impact Analysis and 3-Year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" y="2286000"/>
            <a:ext cx="1371600" cy="548640"/>
          </a:xfrm>
          <a:prstGeom prst="rect">
            <a:avLst/>
          </a:prstGeom>
          <a:solidFill>
            <a:srgbClr val="F2F3F5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defRPr b="1" sz="1200">
                <a:solidFill>
                  <a:srgbClr val="0F172A"/>
                </a:solidFill>
              </a:defRPr>
            </a:pPr>
            <a:r>
              <a:t>재무적 가치 및 비즈니스 임팩트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2286000"/>
            <a:ext cx="39319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spAutoFit/>
          </a:bodyPr>
          <a:lstStyle/>
          <a:p>
            <a:pPr algn="l">
              <a:spcAft>
                <a:spcPts val="200"/>
              </a:spcAft>
              <a:defRPr sz="1200">
                <a:solidFill>
                  <a:srgbClr val="1E293B"/>
                </a:solidFill>
                <a:latin typeface="Pretendard"/>
              </a:defRPr>
            </a:pPr>
            <a:r>
              <a:t>[Data] 3년 내 운영 비용(OpEx) 25% 절감 및 업무 처리 속도(Throughput) 2배 향상 목표. 18개월 BEP 달성 이후 기하급수적 수익성 개선 및 지식 자산 가치 증대 예상.</a:t>
            </a:r>
          </a:p>
          <a:p>
            <a:pPr algn="l">
              <a:spcAft>
                <a:spcPts val="200"/>
              </a:spcAft>
              <a:defRPr sz="1200">
                <a:solidFill>
                  <a:srgbClr val="475569"/>
                </a:solidFill>
                <a:latin typeface="Pretendard"/>
              </a:defRPr>
            </a:pPr>
            <a:r>
              <a:t>[Analysis] Financial Impact: 비용 절감을 넘어 수요 예측 최적화를 통한 마진 개선 동력 확보. 데이터 기반 선제적 리스크 관리로 인한 잠재적 손실 비용 회피 효과 극대화.</a:t>
            </a:r>
          </a:p>
          <a:p>
            <a:pPr algn="l">
              <a:spcAft>
                <a:spcPts val="200"/>
              </a:spcAft>
              <a:defRPr sz="1200">
                <a:solidFill>
                  <a:srgbClr val="38BDF8"/>
                </a:solidFill>
                <a:latin typeface="Pretendard"/>
              </a:defRPr>
            </a:pPr>
            <a:r>
              <a:t>[Strategic Implication] ROI Maximization: 핵심 가치 창출 영역 우선 적용을 통한 투자 대비 성과 조기 가시화.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2286000"/>
            <a:ext cx="5486400" cy="1234440"/>
          </a:xfrm>
          <a:prstGeom prst="rect">
            <a:avLst/>
          </a:prstGeom>
          <a:solidFill>
            <a:srgbClr val="F2F3F5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>
            <a:spAutoFit/>
          </a:bodyPr>
          <a:lstStyle/>
          <a:p>
            <a:pPr algn="ctr"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▶ Phase 1: Foundation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핵심 데이터 통합 및 PoC 수행. 인프라 구축 및 Quick-win 창출.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3657600"/>
            <a:ext cx="5486400" cy="1234440"/>
          </a:xfrm>
          <a:prstGeom prst="rect">
            <a:avLst/>
          </a:prstGeom>
          <a:solidFill>
            <a:srgbClr val="F2F3F5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>
            <a:spAutoFit/>
          </a:bodyPr>
          <a:lstStyle/>
          <a:p>
            <a:pPr algn="ctr"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▶ Phase 2: Expansion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전사 주요 직무별 AI Agent 확산. 업무 자동화 내재화 및 전사 활용.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5029200"/>
            <a:ext cx="5486400" cy="1234440"/>
          </a:xfrm>
          <a:prstGeom prst="rect">
            <a:avLst/>
          </a:prstGeom>
          <a:solidFill>
            <a:srgbClr val="F2F3F5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>
            <a:spAutoFit/>
          </a:bodyPr>
          <a:lstStyle/>
          <a:p>
            <a:pPr algn="ctr"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▶ Phase 3: Ecosystem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AI-Native 비즈니스 모델 완성. 파트너 생태계 구축 및 자율 운영 진화.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F2F3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>
              <a:defRPr b="1" sz="1200">
                <a:solidFill>
                  <a:srgbClr val="10B981"/>
                </a:solidFill>
              </a:defRPr>
            </a:pPr>
            <a:r>
              <a:t> [Strategic Conclusion] 본 프로젝트는 단순 기술 도입을 넘어 'AI-First' 기업으로의 체질 개선을 통한 지속 가능한 경쟁 우위 확보를 지향함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