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E8E93"/>
                </a:solidFill>
                <a:latin typeface="Pretendard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2222"/>
                </a:solidFill>
                <a:latin typeface="Pretendard"/>
              </a:defRPr>
            </a:pPr>
            <a:r>
              <a:t>지식 관리 자동화 시스템 구축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5515E"/>
                </a:solidFill>
                <a:latin typeface="Pretendard"/>
              </a:defRPr>
            </a:pPr>
            <a:r>
              <a:t>파편화된 정보를 구조화된 지능으로 전환하는 파이프라인 구축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E8E93"/>
                </a:solidFill>
                <a:latin typeface="Pretendard"/>
              </a:defRPr>
            </a:pPr>
            <a:r>
              <a:t>1</a:t>
            </a:r>
          </a:p>
        </p:txBody>
      </p:sp>
      <p:sp>
        <p:nvSpPr>
          <p:cNvPr id="6" name="Round Diagonal Corner Rectangle 5"/>
          <p:cNvSpPr/>
          <p:nvPr/>
        </p:nvSpPr>
        <p:spPr>
          <a:xfrm>
            <a:off x="914400" y="2286000"/>
            <a:ext cx="10332720" cy="3657600"/>
          </a:xfrm>
          <a:prstGeom prst="round2DiagRect">
            <a:avLst/>
          </a:prstGeom>
          <a:solidFill>
            <a:srgbClr val="1456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Knowledge Automation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E8E93"/>
                </a:solidFill>
                <a:latin typeface="Pretendard"/>
              </a:defRPr>
            </a:pPr>
            <a:r>
              <a:t>01.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2222"/>
                </a:solidFill>
                <a:latin typeface="Pretendard"/>
              </a:defRPr>
            </a:pPr>
            <a:r>
              <a:t>왜 로컬 기반의 자동화가 필요한가?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5515E"/>
                </a:solidFill>
                <a:latin typeface="Pretendard"/>
              </a:defRPr>
            </a:pPr>
            <a:r>
              <a:t>보안과 비용, 그리고 효율성 측면의 압도적 우위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E8E93"/>
                </a:solidFill>
                <a:latin typeface="Pretendard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2743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F2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5515E"/>
                </a:solidFill>
              </a:defRPr>
            </a:pPr>
            <a:r>
              <a:t>보안성 (Security)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56F0"/>
                </a:solidFill>
              </a:defRPr>
            </a:pPr>
            <a: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E8E93"/>
                </a:solidFill>
              </a:defRPr>
            </a:pPr>
            <a:r>
              <a:t>Local Network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194560"/>
            <a:ext cx="2743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F2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37744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5515E"/>
                </a:solidFill>
              </a:defRPr>
            </a:pPr>
            <a:r>
              <a:t>운영 비용 (Cost)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4320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56F0"/>
                </a:solidFill>
              </a:defRPr>
            </a:pPr>
            <a:r>
              <a:t>₩0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29184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E8E93"/>
                </a:solidFill>
              </a:defRPr>
            </a:pPr>
            <a:r>
              <a:t>Local LLM Infrastructure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194560"/>
            <a:ext cx="2743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F2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37744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5515E"/>
                </a:solidFill>
              </a:defRPr>
            </a:pPr>
            <a:r>
              <a:t>자동화율 (Auto)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74320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56F0"/>
                </a:solidFill>
              </a:defRPr>
            </a:pPr>
            <a:r>
              <a:t>95%+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9184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E8E93"/>
                </a:solidFill>
              </a:defRPr>
            </a:pPr>
            <a:r>
              <a:t>Zero-Touch Pipeline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19456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F2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37744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5515E"/>
                </a:solidFill>
              </a:defRPr>
            </a:pPr>
            <a:r>
              <a:t>연동성 (Sync)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74320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56F0"/>
                </a:solidFill>
              </a:defRPr>
            </a:pPr>
            <a:r>
              <a:t>Real-time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29184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E8E93"/>
                </a:solidFill>
              </a:defRPr>
            </a:pPr>
            <a:r>
              <a:t>Github / Confluence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14800"/>
            <a:ext cx="11247120" cy="2103120"/>
          </a:xfrm>
          <a:prstGeom prst="rect">
            <a:avLst/>
          </a:prstGeom>
          <a:solidFill>
            <a:srgbClr val="F2F3F5"/>
          </a:solidFill>
          <a:ln>
            <a:solidFill>
              <a:srgbClr val="F2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9768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AS-IS: 데이터 파편화 및 수동 정리 (일 평균 2시간 소모)</a:t>
            </a:r>
          </a:p>
          <a:p>
            <a:pPr>
              <a:defRPr sz="1800" b="1">
                <a:solidFill>
                  <a:srgbClr val="1456F0"/>
                </a:solidFill>
              </a:defRPr>
            </a:pPr>
            <a:r>
              <a:t>TO-BE: AI 기반 자동 요약 및 지식 그래프 구축 (실시간 처리)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E8E93"/>
                </a:solidFill>
                <a:latin typeface="Pretendard"/>
              </a:defRPr>
            </a:pPr>
            <a:r>
              <a:t>02.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2222"/>
                </a:solidFill>
                <a:latin typeface="Pretendard"/>
              </a:defRPr>
            </a:pPr>
            <a:r>
              <a:t>데이터에서 지능으로의 4단계 진화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5515E"/>
                </a:solidFill>
                <a:latin typeface="Pretendard"/>
              </a:defRPr>
            </a:pPr>
            <a:r>
              <a:t>구조화된 지식 축적을 위한 지능형 파이프라인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E8E93"/>
                </a:solidFill>
                <a:latin typeface="Pretendard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2560320" cy="3200400"/>
          </a:xfrm>
          <a:prstGeom prst="roundRect">
            <a:avLst/>
          </a:prstGeom>
          <a:solidFill>
            <a:srgbClr val="BFDBFE"/>
          </a:solidFill>
          <a:ln>
            <a:solidFill>
              <a:srgbClr val="8E8E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/>
            </a:pPr>
            <a:r>
              <a:t>1. INBOX (수집)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743200"/>
            <a:ext cx="2560320" cy="3200400"/>
          </a:xfrm>
          <a:prstGeom prst="roundRect">
            <a:avLst/>
          </a:prstGeom>
          <a:solidFill>
            <a:srgbClr val="BFDBFE"/>
          </a:solidFill>
          <a:ln>
            <a:solidFill>
              <a:srgbClr val="8E8E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29260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/>
            </a:pPr>
            <a:r>
              <a:t>2. AI SUMMARIZATION (요약)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743200"/>
            <a:ext cx="2560320" cy="3200400"/>
          </a:xfrm>
          <a:prstGeom prst="roundRect">
            <a:avLst/>
          </a:prstGeom>
          <a:solidFill>
            <a:srgbClr val="BFDBFE"/>
          </a:solidFill>
          <a:ln>
            <a:solidFill>
              <a:srgbClr val="8E8E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9260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/>
            </a:pPr>
            <a:r>
              <a:t>3. SMART MERGING (병합)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743200"/>
            <a:ext cx="2560320" cy="3200400"/>
          </a:xfrm>
          <a:prstGeom prst="roundRect">
            <a:avLst/>
          </a:prstGeom>
          <a:solidFill>
            <a:srgbClr val="1456F0"/>
          </a:solidFill>
          <a:ln>
            <a:solidFill>
              <a:srgbClr val="8E8E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29260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/>
            </a:pPr>
            <a:r>
              <a:t>4. KNOWLEDGE GRAPH (축적)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E8E93"/>
                </a:solidFill>
                <a:latin typeface="Pretendard"/>
              </a:defRPr>
            </a:pPr>
            <a:r>
              <a:t>03. Core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2222"/>
                </a:solidFill>
                <a:latin typeface="Pretendard"/>
              </a:defRPr>
            </a:pPr>
            <a:r>
              <a:t>파이프라인을 지탱하는 핵심 엔진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5515E"/>
                </a:solidFill>
                <a:latin typeface="Pretendard"/>
              </a:defRPr>
            </a:pPr>
            <a:r>
              <a:t>실시간 감지, 동기화, 발행의 완벽한 조화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E8E93"/>
                </a:solidFill>
                <a:latin typeface="Pretendard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3474720" cy="3657600"/>
          </a:xfrm>
          <a:prstGeom prst="roundRect">
            <a:avLst/>
          </a:prstGeom>
          <a:solidFill>
            <a:srgbClr val="F2F3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200">
                <a:solidFill>
                  <a:srgbClr val="1456F0"/>
                </a:solidFill>
              </a:defRPr>
            </a:pPr>
            <a:r>
              <a:t>Watcher Engine</a:t>
            </a:r>
          </a:p>
          <a:p>
            <a:br/>
            <a:pPr>
              <a:defRPr sz="1600"/>
            </a:pPr>
            <a:r>
              <a:t>로컬 Inbox 폴더의 변화를 실시간으로 감지하고 즉시 처리 프로세스를 트리거합니다.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286000"/>
            <a:ext cx="3474720" cy="3657600"/>
          </a:xfrm>
          <a:prstGeom prst="roundRect">
            <a:avLst/>
          </a:prstGeom>
          <a:solidFill>
            <a:srgbClr val="F2F3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5603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200">
                <a:solidFill>
                  <a:srgbClr val="1456F0"/>
                </a:solidFill>
              </a:defRPr>
            </a:pPr>
            <a:r>
              <a:t>Sync Connector</a:t>
            </a:r>
          </a:p>
          <a:p>
            <a:br/>
            <a:pPr>
              <a:defRPr sz="1600"/>
            </a:pPr>
            <a:r>
              <a:t>Github과의 양방향 동기화를 통해 모바일과 데스크탑 간의 지식 격차를 해소합니다.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286000"/>
            <a:ext cx="3474720" cy="3657600"/>
          </a:xfrm>
          <a:prstGeom prst="roundRect">
            <a:avLst/>
          </a:prstGeom>
          <a:solidFill>
            <a:srgbClr val="F2F3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5603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200">
                <a:solidFill>
                  <a:srgbClr val="1456F0"/>
                </a:solidFill>
              </a:defRPr>
            </a:pPr>
            <a:r>
              <a:t>Publish Agent</a:t>
            </a:r>
          </a:p>
          <a:p>
            <a:br/>
            <a:pPr>
              <a:defRPr sz="1600"/>
            </a:pPr>
            <a:r>
              <a:t>정리된 보고서를 Confluence API를 통해 조직 내에 즉시 전파하고 공유합니다.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