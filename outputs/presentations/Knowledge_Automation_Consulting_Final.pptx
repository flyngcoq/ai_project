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지능형 지식 자산화 및 운영 자동화를 통한</a:t>
            </a:r>
            <a:br/>
            <a:r>
              <a:t>기업 경쟁력 극대화 전략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  <a:latin typeface="Pretendard"/>
              </a:defRPr>
            </a:pPr>
            <a:r>
              <a:t>데이터 기반의 의사결정 체계 구축 및 전사적 지식 선순환 구조 확립을 위한 AI-Driven 지식 관리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Pretendard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Pretendard"/>
              </a:defRPr>
            </a:pPr>
            <a:r>
              <a:t>01. 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Pretendard"/>
              </a:defRPr>
            </a:pPr>
            <a:r>
              <a:t>정보 과부하에 따른 지식 유실 리스크를 방지하고, 데이터 기반 의사결정 체계를 구축하여 운영 효율을 제고해야 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Pretendard"/>
              </a:defRPr>
            </a:pPr>
            <a:r>
              <a:t>Market Dynamics, Internal Risk, and Economic Impact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Pretendard"/>
              </a:defRPr>
            </a:pPr>
            <a:r>
              <a:t>외부 환경 및 시장 트렌드</a:t>
            </a:r>
          </a:p>
          <a:p>
            <a:pPr>
              <a:defRPr sz="1100">
                <a:solidFill>
                  <a:srgbClr val="475569"/>
                </a:solidFill>
                <a:latin typeface="Pretendard"/>
              </a:defRPr>
            </a:pPr>
            <a:r>
              <a:t>• AI-Native 전환 가속화: 기업 내부 비정형 데이터를 자산화하는 'Knowledge-as-a-Service'로 진화 중.</a:t>
            </a:r>
            <a:br/>
            <a:br/>
            <a:r>
              <a:t>• 디지털 격차 심화: 자동화 수준에 따른 산업별 생산성 격차 확대 및 기술 부채 발생 가능성 증대.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10312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Pretendard"/>
              </a:defRPr>
            </a:pPr>
            <a:r>
              <a:t>내부적 위기 요인 분석</a:t>
            </a:r>
          </a:p>
          <a:p>
            <a:pPr>
              <a:defRPr sz="1100">
                <a:solidFill>
                  <a:srgbClr val="475569"/>
                </a:solidFill>
                <a:latin typeface="Pretendard"/>
              </a:defRPr>
            </a:pPr>
            <a:r>
              <a:t>• 지식 파편화(Silo Effect): 부서별 개별 저장 방식으로 인한 정보 재검증 비용 발생 및 싱크 불일치.</a:t>
            </a:r>
            <a:br/>
            <a:br/>
            <a:r>
              <a:t>• 인적 의존성 리스크: 핵심 인력 퇴사 시 노하우 유실 및 업무 연속성(BCP) 저해 가능성 상존.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103120"/>
            <a:ext cx="374903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2286000"/>
            <a:ext cx="3383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Pretendard"/>
              </a:defRPr>
            </a:pPr>
            <a:r>
              <a:t>경제적 가치 및 ROI 관점</a:t>
            </a:r>
          </a:p>
          <a:p>
            <a:pPr>
              <a:defRPr sz="1100">
                <a:solidFill>
                  <a:srgbClr val="475569"/>
                </a:solidFill>
                <a:latin typeface="Pretendard"/>
              </a:defRPr>
            </a:pPr>
            <a:r>
              <a:t>• 비용 절감: 정보 검색 및 가공 업무 시간을 40% 이상 감축하여 운영 비용 최적화.</a:t>
            </a:r>
            <a:br/>
            <a:br/>
            <a:r>
              <a:t>• 의사결정 가속화: 정제된 지식의 즉각적 활용을 통해 시장 대응 속도 및 전략 실행력 강화.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Pretendard"/>
              </a:defRPr>
            </a:pPr>
            <a:r>
              <a:t>02.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Pretendard"/>
              </a:defRPr>
            </a:pPr>
            <a:r>
              <a:t>데이터 수집부터 지능형 추론까지 연결된 End-to-End 통합 지능형 프레임워크 구축으로 기술적 무결성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Pretendard"/>
              </a:defRPr>
            </a:pPr>
            <a:r>
              <a:t>Multi-layered Orchestration: Ingestion, Processing, and Application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1124712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Pretendard"/>
              </a:defRPr>
            </a:pPr>
            <a:r>
              <a:t>Layer 1: Data Ingestion &amp; Connectors</a:t>
            </a:r>
          </a:p>
          <a:p>
            <a:pPr>
              <a:defRPr sz="1100">
                <a:solidFill>
                  <a:srgbClr val="475569"/>
                </a:solidFill>
                <a:latin typeface="Pretendard"/>
              </a:defRPr>
            </a:pPr>
            <a:r>
              <a:t>ERP, Confluence, Slack 등 전사적 데이터의 실시간 수집 및 클렌징 파이프라인 (Data Integrity 확보)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1124712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Pretendard"/>
              </a:defRPr>
            </a:pPr>
            <a:r>
              <a:t>Layer 2: Intelligent Processing Engine</a:t>
            </a:r>
          </a:p>
          <a:p>
            <a:pPr>
              <a:defRPr sz="1100">
                <a:solidFill>
                  <a:srgbClr val="475569"/>
                </a:solidFill>
                <a:latin typeface="Pretendard"/>
              </a:defRPr>
            </a:pPr>
            <a:r>
              <a:t>RAG 기반 벡터 DB와 LLM 결합, Semantic Embedding을 통한 문맥 이해 및 검색 정밀도 극대화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46320"/>
            <a:ext cx="1124712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Pretendard"/>
              </a:defRPr>
            </a:pPr>
            <a:r>
              <a:t>Layer 3: Cognitive Interface &amp; Agentic Workflow</a:t>
            </a:r>
          </a:p>
          <a:p>
            <a:pPr>
              <a:defRPr sz="1100">
                <a:solidFill>
                  <a:srgbClr val="475569"/>
                </a:solidFill>
                <a:latin typeface="Pretendard"/>
              </a:defRPr>
            </a:pPr>
            <a:r>
              <a:t>사용자 의도 파악을 통한 자율형 업무 수행(보고서 작성, 분석 등) 및 기존 업무 툴과의 Seamless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Pretendard"/>
              </a:defRPr>
            </a:pPr>
            <a:r>
              <a:t>03. Value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Pretendard"/>
              </a:defRPr>
            </a:pPr>
            <a:r>
              <a:t>단계적 자동화 확산을 통해 전사적 생산성을 혁신하고, 지속 가능한 지식 선순환 구조를 확립함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Pretendard"/>
              </a:defRPr>
            </a:pPr>
            <a:r>
              <a:t>Value Realization: Foundation -&gt; Enterprise Expansion -&gt; Intelligent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Pretendard"/>
              </a:defRPr>
            </a:pPr>
            <a:r>
              <a:t>Phase 1: Foundation Building (0~6M)</a:t>
            </a:r>
          </a:p>
          <a:p>
            <a:pPr>
              <a:defRPr sz="1100">
                <a:solidFill>
                  <a:srgbClr val="475569"/>
                </a:solidFill>
                <a:latin typeface="Pretendard"/>
              </a:defRPr>
            </a:pPr>
            <a:r>
              <a:t>• 핵심 소스 통합 및 PoC 수행</a:t>
            </a:r>
            <a:br/>
            <a:r>
              <a:t>• 정보 검색 시간 단축 및 가시성 확보</a:t>
            </a:r>
            <a:br/>
            <a:r>
              <a:t>• KPI: 데이터 커버리지, 검색 정확도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10312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Pretendard"/>
              </a:defRPr>
            </a:pPr>
            <a:r>
              <a:t>Phase 2: Enterprise Expansion (6~18M)</a:t>
            </a:r>
          </a:p>
          <a:p>
            <a:pPr>
              <a:defRPr sz="1100">
                <a:solidFill>
                  <a:srgbClr val="475569"/>
                </a:solidFill>
                <a:latin typeface="Pretendard"/>
              </a:defRPr>
            </a:pPr>
            <a:r>
              <a:t>• 전사 워크플로우와 AI 에이전트 연동</a:t>
            </a:r>
            <a:br/>
            <a:r>
              <a:t>• 행정 업무 자동화 및 인적 오류 최소화</a:t>
            </a:r>
            <a:br/>
            <a:r>
              <a:t>• KPI: 자동화율, 프로세스 리드타임 감소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10312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228600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Pretendard"/>
              </a:defRPr>
            </a:pPr>
            <a:r>
              <a:t>Phase 3: Intelligent Ecosystem (18M+)</a:t>
            </a:r>
          </a:p>
          <a:p>
            <a:pPr>
              <a:defRPr sz="1100">
                <a:solidFill>
                  <a:srgbClr val="475569"/>
                </a:solidFill>
                <a:latin typeface="Pretendard"/>
              </a:defRPr>
            </a:pPr>
            <a:r>
              <a:t>• 지능형 기업(Intelligent Enterprise) 완성</a:t>
            </a:r>
            <a:br/>
            <a:r>
              <a:t>• 데이터 기반 선제적 의사결정 문화 정착</a:t>
            </a:r>
            <a:br/>
            <a:r>
              <a:t>• KPI: 의사결정 비중, 지식 재사용률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