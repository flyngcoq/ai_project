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181B"/>
                </a:solidFill>
                <a:latin typeface="Pretendard"/>
              </a:defRPr>
            </a:pPr>
            <a:r>
              <a:t>Next-Gen Intelligent Knowledge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  <a:r>
              <a:t>Strategic Transformation from Data Fragmentation to Enterprise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solidFill>
            <a:srgbClr val="145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Leveraging Local LLM for Secure, Scalable, and Automated Knowledge Assetization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  <a:r>
              <a:t>01. 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181B"/>
                </a:solidFill>
                <a:latin typeface="Pretendard"/>
              </a:defRPr>
            </a:pPr>
            <a:r>
              <a:t>Navigating the AI Inflection Point: Bridging the Gap Between GenAI and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  <a:r>
              <a:t>A centralized, AI-driven knowledge platform is a necessity to prevent 'Information Decay'.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4114800"/>
          </a:xfrm>
          <a:prstGeom prst="roundRect">
            <a:avLst/>
          </a:prstGeom>
          <a:solidFill>
            <a:srgbClr val="F2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Global AI Trend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기업 고유 데이터(Proprietary Data)를 AI 모델에 안전하게 결합하는 RAG 기술력이 핵심 경쟁 우위 결정. 'Enterprise-specific RAG' 단계로의 진화 필수.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03120"/>
            <a:ext cx="3657600" cy="4114800"/>
          </a:xfrm>
          <a:prstGeom prst="roundRect">
            <a:avLst/>
          </a:prstGeom>
          <a:solidFill>
            <a:srgbClr val="F2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Governance Crisis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Shadow AI 확산으로 인한 기밀 유출 리스크 및 Data Silo 심화. 보안 거버넌스를 위협하는 파편화된 문서 관리 체계의 한계 도달.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03120"/>
            <a:ext cx="3749039" cy="4114800"/>
          </a:xfrm>
          <a:prstGeom prst="roundRect">
            <a:avLst/>
          </a:prstGeom>
          <a:solidFill>
            <a:srgbClr val="F2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286000"/>
            <a:ext cx="3383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The Strategic Gap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기술 발전 속도와 내부 정제 체계 사이의 Gap 발생. 'Secure Knowledge Perimeter' 구축을 통해 지식 자산화 및 보안 동시 확보 필요.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  <a:r>
              <a:t>02. Technical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181B"/>
                </a:solidFill>
                <a:latin typeface="Pretendard"/>
              </a:defRPr>
            </a:pPr>
            <a:r>
              <a:t>Multi-layered Intelligent Orchestration Framework: Scalability and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  <a:r>
              <a:t>4단계 계층 구조를 통한 데이터 무결성 및 제로 트러스트 보안 posture 확보.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Layer 1: Ingestion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OCR/NLP 기반 비정형 데이터 정제 및 메타데이터 자동 태깅 (Data Ingestion Layer)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Layer 2: Storage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Semantic 검색 최적화를 위한 고차원 벡터 임베딩 및 Vector DB 저장 (Embedding Layer)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Layer 3: RAG Orchestration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Hallucination 최소화를 위한 Context 관리 및 Agentic Workflow (The Brain)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Layer 4: Interface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IAM 연동 RBAC 및 사용자 직관적 UX 제공 (Governance &amp; Interface Layer)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  <a:r>
              <a:t>03. 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181B"/>
                </a:solidFill>
                <a:latin typeface="Pretendard"/>
              </a:defRPr>
            </a:pPr>
            <a:r>
              <a:t>Value Realization Roadmap: Driving Productivity Gains and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  <a:r>
              <a:t>연간 FTE 비용 절감 및 의사결정 속도 30% 향상 기대.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86400" cy="1920240"/>
          </a:xfrm>
          <a:prstGeom prst="roundRect">
            <a:avLst/>
          </a:prstGeom>
          <a:solidFill>
            <a:srgbClr val="F2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Quantitative Impact (ROI)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• Operational Excellence: 연간 인당 평균 업무 시간 [X]시간 절감.</a:t>
            </a:r>
            <a:br/>
            <a:r>
              <a:t>• ROI Projection: BEP 예상 시점 18개월 이내 달성 목표.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486400" cy="1920240"/>
          </a:xfrm>
          <a:prstGeom prst="roundRect">
            <a:avLst/>
          </a:prstGeom>
          <a:solidFill>
            <a:srgbClr val="F2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Qualitative Impact (Assetization)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• Knowledge Democratization: 암묵지의 형식지화를 통한 상향 평준화.</a:t>
            </a:r>
            <a:br/>
            <a:r>
              <a:t>• Agile Decision-making: 실시간 접근성 강화.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F2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181B"/>
                </a:solidFill>
              </a:defRPr>
            </a:pPr>
            <a:r>
              <a:t>Strategic Risk Management &amp; Compliance</a:t>
            </a:r>
          </a:p>
          <a:p>
            <a:pPr>
              <a:defRPr sz="1100">
                <a:solidFill>
                  <a:srgbClr val="45515E"/>
                </a:solidFill>
              </a:defRPr>
            </a:pPr>
            <a:r>
              <a:t>통합 거버넌스 체계를 통한 데이터 유출 사고 발생 가능성 원천 차단. Privacy-preserving 로컬 인프라 구축을 통한 컴플라이언스 준수 비용 최적화 및 보안 신뢰도 제고.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